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2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80" d="100"/>
          <a:sy n="80" d="100"/>
        </p:scale>
        <p:origin x="403" y="5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5466626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-36576"/>
            <a:ext cx="9144000" cy="5143500"/>
          </a:xfrm>
          <a:prstGeom prst="rect">
            <a:avLst/>
          </a:prstGeom>
          <a:solidFill>
            <a:srgbClr val="060912"/>
          </a:solidFill>
          <a:ln w="12700">
            <a:solidFill>
              <a:srgbClr val="0609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C9A84C"/>
          </a:solidFill>
          <a:ln w="12700">
            <a:solidFill>
              <a:srgbClr val="C9A84C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0" y="5106924"/>
            <a:ext cx="9144000" cy="36576"/>
          </a:xfrm>
          <a:prstGeom prst="rect">
            <a:avLst/>
          </a:prstGeom>
          <a:solidFill>
            <a:srgbClr val="C9A84C"/>
          </a:solidFill>
          <a:ln w="12700">
            <a:solidFill>
              <a:srgbClr val="C9A84C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C9A84C"/>
          </a:solidFill>
          <a:ln w="12700">
            <a:solidFill>
              <a:srgbClr val="C9A84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65760" y="457200"/>
            <a:ext cx="5486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600" b="1" kern="0" spc="400" dirty="0">
                <a:solidFill>
                  <a:srgbClr val="C9A84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ИССЛЕДОВАНИЕ</a:t>
            </a:r>
            <a:endParaRPr lang="en-US" sz="3600" dirty="0"/>
          </a:p>
        </p:txBody>
      </p:sp>
      <p:sp>
        <p:nvSpPr>
          <p:cNvPr id="7" name="Text 5"/>
          <p:cNvSpPr/>
          <p:nvPr/>
        </p:nvSpPr>
        <p:spPr>
          <a:xfrm>
            <a:off x="365760" y="1188720"/>
            <a:ext cx="59436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i="1" dirty="0">
                <a:solidFill>
                  <a:srgbClr val="E8C97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Россия — Страна Возможностей</a:t>
            </a:r>
            <a:endParaRPr lang="en-US" sz="2800" dirty="0"/>
          </a:p>
        </p:txBody>
      </p:sp>
      <p:sp>
        <p:nvSpPr>
          <p:cNvPr id="8" name="Shape 6"/>
          <p:cNvSpPr/>
          <p:nvPr/>
        </p:nvSpPr>
        <p:spPr>
          <a:xfrm>
            <a:off x="365760" y="2286000"/>
            <a:ext cx="2286000" cy="36576"/>
          </a:xfrm>
          <a:prstGeom prst="rect">
            <a:avLst/>
          </a:prstGeom>
          <a:solidFill>
            <a:srgbClr val="C9A84C"/>
          </a:solidFill>
          <a:ln w="12700">
            <a:solidFill>
              <a:srgbClr val="C9A84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65760" y="2423160"/>
            <a:ext cx="5029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0EC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Эргашов Амирхон Зоирович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365760" y="2724912"/>
            <a:ext cx="5029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200" dirty="0" err="1" smtClean="0">
                <a:solidFill>
                  <a:srgbClr val="7A7E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Руководитель</a:t>
            </a:r>
            <a:r>
              <a:rPr lang="en-US" sz="1200" dirty="0" smtClean="0">
                <a:solidFill>
                  <a:srgbClr val="7A7E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 err="1" smtClean="0">
                <a:solidFill>
                  <a:srgbClr val="7A7E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проекта</a:t>
            </a:r>
            <a:r>
              <a:rPr lang="en-US" sz="1200" dirty="0" smtClean="0">
                <a:solidFill>
                  <a:srgbClr val="7A7E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</a:t>
            </a:r>
            <a:r>
              <a:rPr lang="en-US" sz="1200" dirty="0" err="1" smtClean="0">
                <a:solidFill>
                  <a:srgbClr val="7A7E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анализ</a:t>
            </a:r>
            <a:r>
              <a:rPr lang="en-US" sz="1200" dirty="0" smtClean="0">
                <a:solidFill>
                  <a:srgbClr val="7A7E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 err="1" smtClean="0">
                <a:solidFill>
                  <a:srgbClr val="7A7E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данных</a:t>
            </a:r>
            <a:r>
              <a:rPr lang="en-US" sz="1200" dirty="0" smtClean="0">
                <a:solidFill>
                  <a:srgbClr val="7A7E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</a:t>
            </a:r>
            <a:r>
              <a:rPr lang="en-US" sz="1200" dirty="0" err="1" smtClean="0">
                <a:solidFill>
                  <a:srgbClr val="7A7E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разработка</a:t>
            </a:r>
            <a:r>
              <a:rPr lang="en-US" sz="1200" dirty="0" smtClean="0">
                <a:solidFill>
                  <a:srgbClr val="7A7E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 err="1" smtClean="0">
                <a:solidFill>
                  <a:srgbClr val="7A7E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сайта</a:t>
            </a:r>
            <a:r>
              <a:rPr lang="ru-RU" sz="1200" dirty="0" smtClean="0">
                <a:solidFill>
                  <a:srgbClr val="7A7E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>
                <a:solidFill>
                  <a:srgbClr val="7A7E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</a:t>
            </a:r>
            <a:r>
              <a:rPr lang="en-US" sz="1200" dirty="0" err="1" smtClean="0">
                <a:solidFill>
                  <a:srgbClr val="7A7E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презентация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65760" y="3063240"/>
            <a:ext cx="5029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0EC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Мансуров Бахтиёр Абдурозикович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365760" y="3364992"/>
            <a:ext cx="5029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7A7E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Участник проекта · сбор </a:t>
            </a:r>
            <a:r>
              <a:rPr lang="en-US" sz="1200" dirty="0" err="1">
                <a:solidFill>
                  <a:srgbClr val="7A7E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данных</a:t>
            </a:r>
            <a:r>
              <a:rPr lang="en-US" sz="1200" dirty="0">
                <a:solidFill>
                  <a:srgbClr val="7A7E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365760" y="475488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kern="0" spc="200" dirty="0">
                <a:solidFill>
                  <a:srgbClr val="7A7E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Группа П-118  ·  ОРГ  ·  ТюмГУ  ·  2026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6583680" y="548640"/>
            <a:ext cx="2286000" cy="914400"/>
          </a:xfrm>
          <a:prstGeom prst="rect">
            <a:avLst/>
          </a:prstGeom>
          <a:solidFill>
            <a:srgbClr val="0C1020"/>
          </a:solidFill>
          <a:ln w="12700">
            <a:solidFill>
              <a:srgbClr val="C9A84C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583680" y="594360"/>
            <a:ext cx="2286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C9A84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24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6583680" y="1115568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kern="0" spc="100" dirty="0">
                <a:solidFill>
                  <a:srgbClr val="7A7E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Респондентов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6583680" y="1572768"/>
            <a:ext cx="2286000" cy="914400"/>
          </a:xfrm>
          <a:prstGeom prst="rect">
            <a:avLst/>
          </a:prstGeom>
          <a:solidFill>
            <a:srgbClr val="0C1020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583680" y="1618488"/>
            <a:ext cx="2286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C0392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18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6583680" y="2139696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kern="0" spc="100" dirty="0">
                <a:solidFill>
                  <a:srgbClr val="7A7E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Вопросов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6583680" y="2596896"/>
            <a:ext cx="2286000" cy="914400"/>
          </a:xfrm>
          <a:prstGeom prst="rect">
            <a:avLst/>
          </a:prstGeom>
          <a:solidFill>
            <a:srgbClr val="0C1020"/>
          </a:solidFill>
          <a:ln w="12700">
            <a:solidFill>
              <a:srgbClr val="4A9EF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583680" y="2642616"/>
            <a:ext cx="2286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4A9E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</a:t>
            </a:r>
            <a:endParaRPr lang="en-US" sz="2800" dirty="0"/>
          </a:p>
        </p:txBody>
      </p:sp>
      <p:sp>
        <p:nvSpPr>
          <p:cNvPr id="22" name="Text 20"/>
          <p:cNvSpPr/>
          <p:nvPr/>
        </p:nvSpPr>
        <p:spPr>
          <a:xfrm>
            <a:off x="6583680" y="3163824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kern="0" spc="100" dirty="0">
                <a:solidFill>
                  <a:srgbClr val="7A7E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Блоков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6583680" y="3621024"/>
            <a:ext cx="2286000" cy="914400"/>
          </a:xfrm>
          <a:prstGeom prst="rect">
            <a:avLst/>
          </a:prstGeom>
          <a:solidFill>
            <a:srgbClr val="0C1020"/>
          </a:solidFill>
          <a:ln w="12700">
            <a:solidFill>
              <a:srgbClr val="5A9E6E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583680" y="3666744"/>
            <a:ext cx="2286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5A9E6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3.5</a:t>
            </a:r>
            <a:endParaRPr lang="en-US" sz="2800" dirty="0"/>
          </a:p>
        </p:txBody>
      </p:sp>
      <p:sp>
        <p:nvSpPr>
          <p:cNvPr id="25" name="Text 23"/>
          <p:cNvSpPr/>
          <p:nvPr/>
        </p:nvSpPr>
        <p:spPr>
          <a:xfrm>
            <a:off x="6583680" y="4187952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kern="0" spc="100" dirty="0">
                <a:solidFill>
                  <a:srgbClr val="7A7E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Ср. оценка</a:t>
            </a:r>
            <a:endParaRPr lang="en-US" sz="900" dirty="0"/>
          </a:p>
        </p:txBody>
      </p:sp>
      <p:sp>
        <p:nvSpPr>
          <p:cNvPr id="26" name="TextBox 25"/>
          <p:cNvSpPr txBox="1"/>
          <p:nvPr/>
        </p:nvSpPr>
        <p:spPr>
          <a:xfrm>
            <a:off x="365760" y="3653213"/>
            <a:ext cx="266355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200" b="1" dirty="0" err="1">
                <a:solidFill>
                  <a:srgbClr val="F0EC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Х</a:t>
            </a:r>
            <a:r>
              <a:rPr lang="ru-RU" sz="1200" b="1" dirty="0" err="1" smtClean="0">
                <a:solidFill>
                  <a:srgbClr val="F0EC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айдаралиев</a:t>
            </a:r>
            <a:r>
              <a:rPr lang="ru-RU" sz="1200" b="1" dirty="0" smtClean="0">
                <a:solidFill>
                  <a:srgbClr val="F0EC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ru-RU" sz="1200" b="1" dirty="0" err="1" smtClean="0">
                <a:solidFill>
                  <a:srgbClr val="F0EC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Ифтихор</a:t>
            </a:r>
            <a:r>
              <a:rPr lang="ru-RU" sz="1200" b="1" dirty="0" smtClean="0">
                <a:solidFill>
                  <a:srgbClr val="F0EC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ru-RU" sz="1200" b="1" dirty="0" err="1" smtClean="0">
                <a:solidFill>
                  <a:srgbClr val="F0EC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Аскаралиевич</a:t>
            </a:r>
            <a:endParaRPr lang="ru-RU" sz="1200" b="1" dirty="0">
              <a:solidFill>
                <a:srgbClr val="F0ECE0"/>
              </a:solidFill>
              <a:latin typeface="Calibri" pitchFamily="34" charset="0"/>
              <a:cs typeface="Calibri" pitchFamily="34" charset="-120"/>
            </a:endParaRPr>
          </a:p>
        </p:txBody>
      </p:sp>
      <p:sp>
        <p:nvSpPr>
          <p:cNvPr id="27" name="TextBox 26"/>
          <p:cNvSpPr txBox="1"/>
          <p:nvPr/>
        </p:nvSpPr>
        <p:spPr>
          <a:xfrm>
            <a:off x="365760" y="3918585"/>
            <a:ext cx="2313903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 err="1">
                <a:solidFill>
                  <a:srgbClr val="7A7E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Участник</a:t>
            </a:r>
            <a:r>
              <a:rPr lang="en-US" sz="1200" dirty="0">
                <a:solidFill>
                  <a:srgbClr val="7A7E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 err="1">
                <a:solidFill>
                  <a:srgbClr val="7A7E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проекта</a:t>
            </a:r>
            <a:r>
              <a:rPr lang="en-US" sz="1200" dirty="0">
                <a:solidFill>
                  <a:srgbClr val="7A7E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</a:t>
            </a:r>
            <a:r>
              <a:rPr lang="en-US" sz="1200" dirty="0" err="1">
                <a:solidFill>
                  <a:srgbClr val="7A7E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сбор</a:t>
            </a:r>
            <a:r>
              <a:rPr lang="en-US" sz="1200" dirty="0">
                <a:solidFill>
                  <a:srgbClr val="7A7E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 err="1">
                <a:solidFill>
                  <a:srgbClr val="7A7E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данных</a:t>
            </a:r>
            <a:r>
              <a:rPr lang="en-US" sz="1200" dirty="0">
                <a:solidFill>
                  <a:srgbClr val="7A7E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200" dirty="0"/>
          </a:p>
          <a:p>
            <a:endParaRPr lang="ru-RU"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500">
        <p:split orient="vert"/>
      </p:transition>
    </mc:Choice>
    <mc:Fallback xmlns="">
      <p:transition spd="slow">
        <p:split orient="vert"/>
      </p:transition>
    </mc:Fallback>
  </mc:AlternateContent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60912"/>
          </a:solidFill>
          <a:ln w="12700">
            <a:solidFill>
              <a:srgbClr val="0609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C9A84C"/>
          </a:solidFill>
          <a:ln w="12700">
            <a:solidFill>
              <a:srgbClr val="C9A84C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C9A84C"/>
          </a:solidFill>
          <a:ln w="12700">
            <a:solidFill>
              <a:srgbClr val="C9A84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365760" y="13716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kern="0" spc="300" dirty="0">
                <a:solidFill>
                  <a:srgbClr val="C9A8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ЦЕЛЬ И ГИПОТЕЗА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365760" y="502920"/>
            <a:ext cx="8229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F0ECE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Цель и гипотеза исследования</a:t>
            </a:r>
            <a:endParaRPr lang="en-US" sz="3000" dirty="0"/>
          </a:p>
        </p:txBody>
      </p:sp>
      <p:sp>
        <p:nvSpPr>
          <p:cNvPr id="7" name="Shape 5"/>
          <p:cNvSpPr/>
          <p:nvPr/>
        </p:nvSpPr>
        <p:spPr>
          <a:xfrm>
            <a:off x="365760" y="1280160"/>
            <a:ext cx="3931920" cy="3383280"/>
          </a:xfrm>
          <a:prstGeom prst="rect">
            <a:avLst/>
          </a:prstGeom>
          <a:solidFill>
            <a:srgbClr val="0C1020"/>
          </a:solidFill>
          <a:ln w="12700">
            <a:solidFill>
              <a:srgbClr val="C9A84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02920" y="141732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C9A84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Цель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502920" y="1874520"/>
            <a:ext cx="3657600" cy="2560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F0EC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Изучить, как молодёжь Тюмени воспринимает возможности в современной России — в сфере образования, карьеры и </a:t>
            </a:r>
            <a:r>
              <a:rPr lang="en-US" sz="1300" dirty="0" err="1" smtClean="0">
                <a:solidFill>
                  <a:srgbClr val="F0EC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предпринимательства</a:t>
            </a:r>
            <a:r>
              <a:rPr lang="en-US" sz="1300" dirty="0" smtClean="0">
                <a:solidFill>
                  <a:srgbClr val="F0EC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r>
              <a:rPr lang="ru-RU" sz="1300" dirty="0">
                <a:solidFill>
                  <a:srgbClr val="F0EC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ru-RU" sz="1300" dirty="0" smtClean="0">
                <a:solidFill>
                  <a:schemeClr val="bg1"/>
                </a:solidFill>
              </a:rPr>
              <a:t>Узнать</a:t>
            </a:r>
            <a:r>
              <a:rPr lang="ru-RU" sz="1300" dirty="0">
                <a:solidFill>
                  <a:schemeClr val="bg1"/>
                </a:solidFill>
              </a:rPr>
              <a:t>, какие возможности молодёжь считает реальными в современной </a:t>
            </a:r>
            <a:r>
              <a:rPr lang="ru-RU" sz="1300" dirty="0" smtClean="0">
                <a:solidFill>
                  <a:schemeClr val="bg1"/>
                </a:solidFill>
              </a:rPr>
              <a:t>России. Понять</a:t>
            </a:r>
            <a:r>
              <a:rPr lang="ru-RU" sz="1300" dirty="0">
                <a:solidFill>
                  <a:schemeClr val="bg1"/>
                </a:solidFill>
              </a:rPr>
              <a:t>, что мешает молодым людям реализовать свой </a:t>
            </a:r>
            <a:r>
              <a:rPr lang="ru-RU" sz="1300" dirty="0" smtClean="0">
                <a:solidFill>
                  <a:schemeClr val="bg1"/>
                </a:solidFill>
              </a:rPr>
              <a:t>потенциал.</a:t>
            </a:r>
            <a:endParaRPr lang="en-US" sz="1300" dirty="0">
              <a:solidFill>
                <a:schemeClr val="bg1"/>
              </a:solidFill>
            </a:endParaRPr>
          </a:p>
        </p:txBody>
      </p:sp>
      <p:sp>
        <p:nvSpPr>
          <p:cNvPr id="10" name="Shape 8"/>
          <p:cNvSpPr/>
          <p:nvPr/>
        </p:nvSpPr>
        <p:spPr>
          <a:xfrm>
            <a:off x="4663440" y="1280160"/>
            <a:ext cx="4114800" cy="3383280"/>
          </a:xfrm>
          <a:prstGeom prst="rect">
            <a:avLst/>
          </a:prstGeom>
          <a:solidFill>
            <a:srgbClr val="0C1020"/>
          </a:solidFill>
          <a:ln w="12700">
            <a:solidFill>
              <a:srgbClr val="E8C97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800600" y="1417320"/>
            <a:ext cx="3749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E8C97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Гипотеза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4800600" y="1874520"/>
            <a:ext cx="3749040" cy="2560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r>
              <a:rPr lang="en-US" sz="1300" dirty="0">
                <a:solidFill>
                  <a:srgbClr val="F0EC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Россия предоставляет возможности, но их доступность неравномерна — особенно в сфере IT и по регионам </a:t>
            </a:r>
            <a:r>
              <a:rPr lang="en-US" sz="1300" dirty="0" err="1">
                <a:solidFill>
                  <a:srgbClr val="F0EC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страны</a:t>
            </a:r>
            <a:r>
              <a:rPr lang="en-US" sz="1300" dirty="0" smtClean="0">
                <a:solidFill>
                  <a:srgbClr val="F0EC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r>
              <a:rPr lang="ru-RU" sz="1300" dirty="0" smtClean="0">
                <a:solidFill>
                  <a:srgbClr val="F0EC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ru-RU" sz="1300" dirty="0">
                <a:solidFill>
                  <a:schemeClr val="bg2"/>
                </a:solidFill>
              </a:rPr>
              <a:t>Россия даёт шансы, но не всем одинаково — зависит от региона и сферы. </a:t>
            </a:r>
            <a:r>
              <a:rPr lang="ru-RU" sz="1300" dirty="0" smtClean="0">
                <a:solidFill>
                  <a:schemeClr val="bg2"/>
                </a:solidFill>
              </a:rPr>
              <a:t>Большинство </a:t>
            </a:r>
            <a:r>
              <a:rPr lang="ru-RU" sz="1300" dirty="0">
                <a:solidFill>
                  <a:schemeClr val="bg2"/>
                </a:solidFill>
              </a:rPr>
              <a:t>молодых людей хотят остаться и строить будущее </a:t>
            </a:r>
            <a:r>
              <a:rPr lang="ru-RU" sz="1300" dirty="0" smtClean="0">
                <a:solidFill>
                  <a:schemeClr val="bg2"/>
                </a:solidFill>
              </a:rPr>
              <a:t>здесь.</a:t>
            </a:r>
            <a:endParaRPr lang="en-US" sz="1300" dirty="0">
              <a:solidFill>
                <a:schemeClr val="bg2"/>
              </a:solidFill>
            </a:endParaRPr>
          </a:p>
        </p:txBody>
      </p:sp>
    </p:spTree>
  </p:cSld>
  <p:clrMapOvr>
    <a:masterClrMapping/>
  </p:clrMapOvr>
  <p:transition spd="slow">
    <p:push dir="u"/>
  </p:transition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60912"/>
          </a:solidFill>
          <a:ln w="12700">
            <a:solidFill>
              <a:srgbClr val="0609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C9A84C"/>
          </a:solidFill>
          <a:ln w="12700">
            <a:solidFill>
              <a:srgbClr val="C9A84C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C9A84C"/>
          </a:solidFill>
          <a:ln w="12700">
            <a:solidFill>
              <a:srgbClr val="C9A84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365760" y="13716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kern="0" spc="300" dirty="0">
                <a:solidFill>
                  <a:srgbClr val="C9A8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МЕТОДОЛОГИЯ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365760" y="502920"/>
            <a:ext cx="8229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F0ECE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Методология исследования</a:t>
            </a:r>
            <a:endParaRPr lang="en-US" sz="3000" dirty="0"/>
          </a:p>
        </p:txBody>
      </p:sp>
      <p:sp>
        <p:nvSpPr>
          <p:cNvPr id="7" name="Shape 5"/>
          <p:cNvSpPr/>
          <p:nvPr/>
        </p:nvSpPr>
        <p:spPr>
          <a:xfrm>
            <a:off x="365760" y="1234440"/>
            <a:ext cx="8412480" cy="475488"/>
          </a:xfrm>
          <a:prstGeom prst="rect">
            <a:avLst/>
          </a:prstGeom>
          <a:solidFill>
            <a:srgbClr val="0C1020"/>
          </a:solidFill>
          <a:ln w="12700">
            <a:solidFill>
              <a:srgbClr val="0C102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02920" y="1325880"/>
            <a:ext cx="20116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7A7E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Метод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2651760" y="1325880"/>
            <a:ext cx="5943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C9A8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Онлайн-анкетирование (Google Forms)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365760" y="1764792"/>
            <a:ext cx="8412480" cy="475488"/>
          </a:xfrm>
          <a:prstGeom prst="rect">
            <a:avLst/>
          </a:prstGeom>
          <a:solidFill>
            <a:srgbClr val="0C1020"/>
          </a:solidFill>
          <a:ln w="12700">
            <a:solidFill>
              <a:srgbClr val="0C102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1856232"/>
            <a:ext cx="20116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7A7E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Аудитория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2651760" y="1856232"/>
            <a:ext cx="5943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0EC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Молодёжь 14–22 лет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365760" y="2295144"/>
            <a:ext cx="8412480" cy="475488"/>
          </a:xfrm>
          <a:prstGeom prst="rect">
            <a:avLst/>
          </a:prstGeom>
          <a:solidFill>
            <a:srgbClr val="0C1020"/>
          </a:solidFill>
          <a:ln w="12700">
            <a:solidFill>
              <a:srgbClr val="0C102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386584"/>
            <a:ext cx="20116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7A7E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Период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2651760" y="2386584"/>
            <a:ext cx="5943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0EC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2025–2026 учебный год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365760" y="2825496"/>
            <a:ext cx="8412480" cy="475488"/>
          </a:xfrm>
          <a:prstGeom prst="rect">
            <a:avLst/>
          </a:prstGeom>
          <a:solidFill>
            <a:srgbClr val="0C1020"/>
          </a:solidFill>
          <a:ln w="12700">
            <a:solidFill>
              <a:srgbClr val="0C102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02920" y="2916936"/>
            <a:ext cx="20116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7A7E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Анонимность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2651760" y="2916936"/>
            <a:ext cx="5943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chemeClr val="accent4">
                    <a:lumMod val="60000"/>
                    <a:lumOff val="40000"/>
                  </a:scheme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Гарантирована</a:t>
            </a:r>
            <a:endParaRPr lang="en-US" sz="1100" dirty="0">
              <a:solidFill>
                <a:schemeClr val="accent4">
                  <a:lumMod val="60000"/>
                  <a:lumOff val="40000"/>
                </a:schemeClr>
              </a:solidFill>
            </a:endParaRPr>
          </a:p>
        </p:txBody>
      </p:sp>
      <p:sp>
        <p:nvSpPr>
          <p:cNvPr id="19" name="Shape 17"/>
          <p:cNvSpPr/>
          <p:nvPr/>
        </p:nvSpPr>
        <p:spPr>
          <a:xfrm>
            <a:off x="365760" y="3355848"/>
            <a:ext cx="8412480" cy="475488"/>
          </a:xfrm>
          <a:prstGeom prst="rect">
            <a:avLst/>
          </a:prstGeom>
          <a:solidFill>
            <a:srgbClr val="0C1020"/>
          </a:solidFill>
          <a:ln w="12700">
            <a:solidFill>
              <a:srgbClr val="0C102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02920" y="3447288"/>
            <a:ext cx="20116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7A7E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Объём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2651760" y="3447288"/>
            <a:ext cx="5943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C9A8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 респондента · 18 вопросов · 5 блоков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365760" y="3959352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C9A8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Блоки анкеты:</a:t>
            </a:r>
            <a:endParaRPr lang="en-US" sz="1400" dirty="0"/>
          </a:p>
        </p:txBody>
      </p:sp>
      <p:sp>
        <p:nvSpPr>
          <p:cNvPr id="23" name="Shape 21"/>
          <p:cNvSpPr/>
          <p:nvPr/>
        </p:nvSpPr>
        <p:spPr>
          <a:xfrm>
            <a:off x="365760" y="4297680"/>
            <a:ext cx="1609344" cy="777240"/>
          </a:xfrm>
          <a:prstGeom prst="rect">
            <a:avLst/>
          </a:prstGeom>
          <a:solidFill>
            <a:srgbClr val="0C1020"/>
          </a:solidFill>
          <a:ln w="12700">
            <a:solidFill>
              <a:srgbClr val="C9A84C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4315968"/>
            <a:ext cx="160934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C9A84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411480" y="4599432"/>
            <a:ext cx="1517904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7A7E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Портрет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2020824" y="4297680"/>
            <a:ext cx="1609344" cy="777240"/>
          </a:xfrm>
          <a:prstGeom prst="rect">
            <a:avLst/>
          </a:prstGeom>
          <a:solidFill>
            <a:srgbClr val="0C1020"/>
          </a:solidFill>
          <a:ln w="12700">
            <a:solidFill>
              <a:srgbClr val="C9A84C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020824" y="4315968"/>
            <a:ext cx="160934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C9A84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2066544" y="4599432"/>
            <a:ext cx="1517904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7A7E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Образование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3675888" y="4297680"/>
            <a:ext cx="1609344" cy="777240"/>
          </a:xfrm>
          <a:prstGeom prst="rect">
            <a:avLst/>
          </a:prstGeom>
          <a:solidFill>
            <a:srgbClr val="0C1020"/>
          </a:solidFill>
          <a:ln w="12700">
            <a:solidFill>
              <a:srgbClr val="C9A84C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75888" y="4315968"/>
            <a:ext cx="160934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C9A84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3721608" y="4599432"/>
            <a:ext cx="1517904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7A7E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Карьера</a:t>
            </a:r>
            <a:endParaRPr lang="en-US" sz="1200" dirty="0"/>
          </a:p>
        </p:txBody>
      </p:sp>
      <p:sp>
        <p:nvSpPr>
          <p:cNvPr id="32" name="Shape 30"/>
          <p:cNvSpPr/>
          <p:nvPr/>
        </p:nvSpPr>
        <p:spPr>
          <a:xfrm>
            <a:off x="5330952" y="4297680"/>
            <a:ext cx="1609344" cy="777240"/>
          </a:xfrm>
          <a:prstGeom prst="rect">
            <a:avLst/>
          </a:prstGeom>
          <a:solidFill>
            <a:srgbClr val="0C1020"/>
          </a:solidFill>
          <a:ln w="12700">
            <a:solidFill>
              <a:srgbClr val="C9A84C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5330952" y="4315968"/>
            <a:ext cx="160934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C9A84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5376672" y="4599432"/>
            <a:ext cx="1517904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7A7E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Бизнес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6986016" y="4297680"/>
            <a:ext cx="1609344" cy="777240"/>
          </a:xfrm>
          <a:prstGeom prst="rect">
            <a:avLst/>
          </a:prstGeom>
          <a:solidFill>
            <a:srgbClr val="0C1020"/>
          </a:solidFill>
          <a:ln w="12700">
            <a:solidFill>
              <a:srgbClr val="C9A84C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986016" y="4315968"/>
            <a:ext cx="160934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C9A84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</a:t>
            </a:r>
            <a:endParaRPr lang="en-US" sz="1400" dirty="0"/>
          </a:p>
        </p:txBody>
      </p:sp>
      <p:sp>
        <p:nvSpPr>
          <p:cNvPr id="37" name="Text 35"/>
          <p:cNvSpPr/>
          <p:nvPr/>
        </p:nvSpPr>
        <p:spPr>
          <a:xfrm>
            <a:off x="7031736" y="4599432"/>
            <a:ext cx="1517904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7A7E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Оценка</a:t>
            </a:r>
            <a:endParaRPr lang="en-US" sz="1200" dirty="0"/>
          </a:p>
        </p:txBody>
      </p:sp>
    </p:spTree>
  </p:cSld>
  <p:clrMapOvr>
    <a:masterClrMapping/>
  </p:clrMapOvr>
  <p:transition spd="slow">
    <p:wipe/>
  </p:transition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60912"/>
          </a:solidFill>
          <a:ln w="12700">
            <a:solidFill>
              <a:srgbClr val="0609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C9A84C"/>
          </a:solidFill>
          <a:ln w="12700">
            <a:solidFill>
              <a:srgbClr val="C9A84C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C9A84C"/>
          </a:solidFill>
          <a:ln w="12700">
            <a:solidFill>
              <a:srgbClr val="C9A84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365760" y="13716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kern="0" spc="300" dirty="0">
                <a:solidFill>
                  <a:srgbClr val="C9A8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КЛЮЧЕВЫЕ ДАННЫЕ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365760" y="502920"/>
            <a:ext cx="8229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F0ECE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Ключевые цифры</a:t>
            </a:r>
            <a:endParaRPr lang="en-US" sz="3000" dirty="0"/>
          </a:p>
        </p:txBody>
      </p:sp>
      <p:sp>
        <p:nvSpPr>
          <p:cNvPr id="7" name="Shape 5"/>
          <p:cNvSpPr/>
          <p:nvPr/>
        </p:nvSpPr>
        <p:spPr>
          <a:xfrm>
            <a:off x="365760" y="1280160"/>
            <a:ext cx="2743200" cy="3566160"/>
          </a:xfrm>
          <a:prstGeom prst="rect">
            <a:avLst/>
          </a:prstGeom>
          <a:solidFill>
            <a:srgbClr val="0C1020"/>
          </a:solidFill>
          <a:ln w="12700">
            <a:solidFill>
              <a:srgbClr val="C9A84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65760" y="1417320"/>
            <a:ext cx="27432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ru-RU" sz="3600" b="1" dirty="0" smtClean="0">
                <a:solidFill>
                  <a:srgbClr val="C9A84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71</a:t>
            </a:r>
            <a:r>
              <a:rPr lang="en-US" sz="3600" b="1" dirty="0" smtClean="0">
                <a:solidFill>
                  <a:srgbClr val="C9A84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%</a:t>
            </a:r>
            <a:endParaRPr lang="en-US" sz="3600" dirty="0"/>
          </a:p>
        </p:txBody>
      </p:sp>
      <p:sp>
        <p:nvSpPr>
          <p:cNvPr id="9" name="Text 7"/>
          <p:cNvSpPr/>
          <p:nvPr/>
        </p:nvSpPr>
        <p:spPr>
          <a:xfrm>
            <a:off x="457200" y="2331720"/>
            <a:ext cx="25603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0ECE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выбрали IT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b="1" dirty="0">
                <a:solidFill>
                  <a:srgbClr val="F0ECE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как сферу №1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1005840" y="3035808"/>
            <a:ext cx="1463040" cy="27432"/>
          </a:xfrm>
          <a:prstGeom prst="rect">
            <a:avLst/>
          </a:prstGeom>
          <a:solidFill>
            <a:srgbClr val="C9A84C"/>
          </a:solidFill>
          <a:ln w="12700">
            <a:solidFill>
              <a:srgbClr val="C9A84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3127248"/>
            <a:ext cx="246888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200" dirty="0">
                <a:solidFill>
                  <a:srgbClr val="7A7E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Больше половины опрошенных считают IT лучшей возможностью для карьеры в России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3200400" y="1280160"/>
            <a:ext cx="2743200" cy="3566160"/>
          </a:xfrm>
          <a:prstGeom prst="rect">
            <a:avLst/>
          </a:prstGeom>
          <a:solidFill>
            <a:srgbClr val="0C1020"/>
          </a:solidFill>
          <a:ln w="12700">
            <a:solidFill>
              <a:srgbClr val="4A9E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200400" y="1417320"/>
            <a:ext cx="27432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600" b="1" dirty="0">
                <a:solidFill>
                  <a:srgbClr val="4A9E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3.5/5</a:t>
            </a:r>
            <a:endParaRPr lang="en-US" sz="3600" dirty="0"/>
          </a:p>
        </p:txBody>
      </p:sp>
      <p:sp>
        <p:nvSpPr>
          <p:cNvPr id="14" name="Text 12"/>
          <p:cNvSpPr/>
          <p:nvPr/>
        </p:nvSpPr>
        <p:spPr>
          <a:xfrm>
            <a:off x="3291840" y="2331720"/>
            <a:ext cx="25603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0ECE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средняя оценка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b="1" dirty="0">
                <a:solidFill>
                  <a:srgbClr val="F0ECE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возможностей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840480" y="3035808"/>
            <a:ext cx="1463040" cy="27432"/>
          </a:xfrm>
          <a:prstGeom prst="rect">
            <a:avLst/>
          </a:prstGeom>
          <a:solidFill>
            <a:srgbClr val="4A9EFF"/>
          </a:solidFill>
          <a:ln w="12700">
            <a:solidFill>
              <a:srgbClr val="4A9EF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337560" y="3127248"/>
            <a:ext cx="246888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200" dirty="0">
                <a:solidFill>
                  <a:srgbClr val="7A7E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Молодёжь в целом позитивно оценивает перспективы — выше среднего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035040" y="1280160"/>
            <a:ext cx="2743200" cy="3566160"/>
          </a:xfrm>
          <a:prstGeom prst="rect">
            <a:avLst/>
          </a:prstGeom>
          <a:solidFill>
            <a:srgbClr val="0C1020"/>
          </a:solidFill>
          <a:ln w="12700">
            <a:solidFill>
              <a:srgbClr val="5A9E6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035040" y="1417320"/>
            <a:ext cx="27432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ru-RU" sz="3600" b="1" dirty="0" smtClean="0">
                <a:solidFill>
                  <a:srgbClr val="5A9E6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58</a:t>
            </a:r>
            <a:r>
              <a:rPr lang="en-US" sz="3600" b="1" dirty="0" smtClean="0">
                <a:solidFill>
                  <a:srgbClr val="5A9E6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%</a:t>
            </a:r>
            <a:endParaRPr lang="en-US" sz="3600" dirty="0"/>
          </a:p>
        </p:txBody>
      </p:sp>
      <p:sp>
        <p:nvSpPr>
          <p:cNvPr id="19" name="Text 17"/>
          <p:cNvSpPr/>
          <p:nvPr/>
        </p:nvSpPr>
        <p:spPr>
          <a:xfrm>
            <a:off x="6126480" y="2331720"/>
            <a:ext cx="25603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0ECE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не рассматривают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b="1" dirty="0">
                <a:solidFill>
                  <a:srgbClr val="F0ECE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эмиграцию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6675120" y="3035808"/>
            <a:ext cx="1463040" cy="27432"/>
          </a:xfrm>
          <a:prstGeom prst="rect">
            <a:avLst/>
          </a:prstGeom>
          <a:solidFill>
            <a:srgbClr val="5A9E6E"/>
          </a:solidFill>
          <a:ln w="12700">
            <a:solidFill>
              <a:srgbClr val="5A9E6E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172200" y="3127248"/>
            <a:ext cx="246888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200" dirty="0">
                <a:solidFill>
                  <a:srgbClr val="7A7E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Три из четырёх связывают своё будущее с Россией</a:t>
            </a:r>
            <a:endParaRPr lang="en-US" sz="1200"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-106680"/>
            <a:ext cx="9144000" cy="5143500"/>
          </a:xfrm>
          <a:prstGeom prst="rect">
            <a:avLst/>
          </a:prstGeom>
          <a:solidFill>
            <a:srgbClr val="060912"/>
          </a:solidFill>
          <a:ln w="12700">
            <a:solidFill>
              <a:srgbClr val="0609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C9A84C"/>
          </a:solidFill>
          <a:ln w="12700">
            <a:solidFill>
              <a:srgbClr val="C9A84C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C9A84C"/>
          </a:solidFill>
          <a:ln w="12700">
            <a:solidFill>
              <a:srgbClr val="C9A84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365760" y="13716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kern="0" spc="300" dirty="0">
                <a:solidFill>
                  <a:srgbClr val="C9A8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РЕЗУЛЬТАТЫ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365760" y="502920"/>
            <a:ext cx="8229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F0ECE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Предпочтения молодёжи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365760" y="1280160"/>
            <a:ext cx="2286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0EC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и технологии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834640" y="1353312"/>
            <a:ext cx="5029200" cy="274320"/>
          </a:xfrm>
          <a:prstGeom prst="rect">
            <a:avLst/>
          </a:prstGeom>
          <a:solidFill>
            <a:srgbClr val="0C1020"/>
          </a:solidFill>
          <a:ln w="12700">
            <a:solidFill>
              <a:srgbClr val="0C102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834640" y="1353312"/>
            <a:ext cx="4042410" cy="301752"/>
          </a:xfrm>
          <a:prstGeom prst="rect">
            <a:avLst/>
          </a:prstGeom>
          <a:solidFill>
            <a:srgbClr val="C9A84C"/>
          </a:solidFill>
          <a:ln w="12700">
            <a:solidFill>
              <a:srgbClr val="C9A84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315200" y="1280160"/>
            <a:ext cx="7315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ru-RU" sz="1200" b="1" dirty="0" smtClean="0">
                <a:solidFill>
                  <a:srgbClr val="C9A8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71</a:t>
            </a:r>
            <a:r>
              <a:rPr lang="en-US" sz="1200" b="1" dirty="0" smtClean="0">
                <a:solidFill>
                  <a:srgbClr val="C9A8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%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65760" y="1965960"/>
            <a:ext cx="2286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834640" y="2039112"/>
            <a:ext cx="5029200" cy="274320"/>
          </a:xfrm>
          <a:prstGeom prst="rect">
            <a:avLst/>
          </a:prstGeom>
          <a:solidFill>
            <a:srgbClr val="0C1020"/>
          </a:solidFill>
          <a:ln w="12700">
            <a:solidFill>
              <a:srgbClr val="0C102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834640" y="2039112"/>
            <a:ext cx="854964" cy="274320"/>
          </a:xfrm>
          <a:prstGeom prst="rect">
            <a:avLst/>
          </a:prstGeom>
          <a:solidFill>
            <a:srgbClr val="4A9EFF"/>
          </a:solidFill>
          <a:ln w="12700">
            <a:solidFill>
              <a:srgbClr val="4A9E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781044" y="1965960"/>
            <a:ext cx="7315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 smtClean="0">
                <a:solidFill>
                  <a:srgbClr val="4A9E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17%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365760" y="2651760"/>
            <a:ext cx="2286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200" dirty="0" err="1" smtClean="0">
                <a:solidFill>
                  <a:srgbClr val="F0EC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Медицина</a:t>
            </a:r>
            <a:endParaRPr lang="en-US" sz="1200" dirty="0"/>
          </a:p>
          <a:p>
            <a:pPr marL="0" indent="0">
              <a:buNone/>
            </a:pP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2834640" y="2724912"/>
            <a:ext cx="5029200" cy="274320"/>
          </a:xfrm>
          <a:prstGeom prst="rect">
            <a:avLst/>
          </a:prstGeom>
          <a:solidFill>
            <a:srgbClr val="0C1020"/>
          </a:solidFill>
          <a:ln w="12700">
            <a:solidFill>
              <a:srgbClr val="0C1020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2834640" y="2724912"/>
            <a:ext cx="342900" cy="301752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328416" y="2660904"/>
            <a:ext cx="7315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ru-RU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r>
              <a:rPr lang="en-US" sz="1200" b="1" dirty="0" smtClean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%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365760" y="3337560"/>
            <a:ext cx="2286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0EC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Образование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2834640" y="3410712"/>
            <a:ext cx="5029200" cy="274320"/>
          </a:xfrm>
          <a:prstGeom prst="rect">
            <a:avLst/>
          </a:prstGeom>
          <a:solidFill>
            <a:srgbClr val="0C1020"/>
          </a:solidFill>
          <a:ln w="12700">
            <a:solidFill>
              <a:srgbClr val="0C1020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834640" y="3410712"/>
            <a:ext cx="402336" cy="274320"/>
          </a:xfrm>
          <a:prstGeom prst="rect">
            <a:avLst/>
          </a:prstGeom>
          <a:solidFill>
            <a:srgbClr val="5A9E6E"/>
          </a:solidFill>
          <a:ln w="12700">
            <a:solidFill>
              <a:srgbClr val="5A9E6E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3328416" y="3337560"/>
            <a:ext cx="7315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ru-RU" sz="1200" b="1" dirty="0">
                <a:solidFill>
                  <a:srgbClr val="5A9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r>
              <a:rPr lang="en-US" sz="1200" b="1" dirty="0" smtClean="0">
                <a:solidFill>
                  <a:srgbClr val="5A9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%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365760" y="4023360"/>
            <a:ext cx="2286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0EC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Другое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2834640" y="4096512"/>
            <a:ext cx="5029200" cy="274320"/>
          </a:xfrm>
          <a:prstGeom prst="rect">
            <a:avLst/>
          </a:prstGeom>
          <a:solidFill>
            <a:srgbClr val="0C1020"/>
          </a:solidFill>
          <a:ln w="12700">
            <a:solidFill>
              <a:srgbClr val="0C102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834640" y="4096512"/>
            <a:ext cx="251460" cy="274320"/>
          </a:xfrm>
          <a:prstGeom prst="rect">
            <a:avLst/>
          </a:prstGeom>
          <a:solidFill>
            <a:srgbClr val="7A7E96"/>
          </a:solidFill>
          <a:ln w="12700">
            <a:solidFill>
              <a:srgbClr val="7A7E96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177540" y="4023360"/>
            <a:ext cx="7315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ru-RU" sz="1200" b="1" dirty="0">
                <a:solidFill>
                  <a:srgbClr val="7A7E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r>
              <a:rPr lang="en-US" sz="1200" b="1" dirty="0" smtClean="0">
                <a:solidFill>
                  <a:srgbClr val="7A7E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%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365760" y="4754880"/>
            <a:ext cx="8412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7A7E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Какую сферу вы считаете наиболее перспективной в России?</a:t>
            </a:r>
            <a:endParaRPr lang="en-US" sz="1200" dirty="0"/>
          </a:p>
        </p:txBody>
      </p:sp>
      <p:sp>
        <p:nvSpPr>
          <p:cNvPr id="29" name="TextBox 28"/>
          <p:cNvSpPr txBox="1"/>
          <p:nvPr/>
        </p:nvSpPr>
        <p:spPr>
          <a:xfrm>
            <a:off x="382056" y="2010341"/>
            <a:ext cx="134844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 err="1">
                <a:solidFill>
                  <a:srgbClr val="F0EC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Бизнес</a:t>
            </a:r>
            <a:r>
              <a:rPr lang="en-US" sz="1200" dirty="0">
                <a:solidFill>
                  <a:srgbClr val="F0EC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/ </a:t>
            </a:r>
            <a:r>
              <a:rPr lang="en-US" sz="1200" dirty="0" err="1">
                <a:solidFill>
                  <a:srgbClr val="F0EC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торговля</a:t>
            </a:r>
            <a:endParaRPr lang="ru-RU" sz="1200" dirty="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10"/>
    </mc:Choice>
    <mc:Fallback>
      <p:transition/>
    </mc:Fallback>
  </mc:AlternateContent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60912"/>
          </a:solidFill>
          <a:ln w="12700">
            <a:solidFill>
              <a:srgbClr val="0609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C9A84C"/>
          </a:solidFill>
          <a:ln w="12700">
            <a:solidFill>
              <a:srgbClr val="C9A84C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C9A84C"/>
          </a:solidFill>
          <a:ln w="12700">
            <a:solidFill>
              <a:srgbClr val="C9A84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365760" y="13716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kern="0" spc="300" dirty="0">
                <a:solidFill>
                  <a:srgbClr val="C9A8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РЕЗУЛЬТАТЫ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365760" y="502920"/>
            <a:ext cx="8229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F0ECE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Россия или эмиграция?</a:t>
            </a:r>
            <a:endParaRPr lang="en-US" sz="3000" dirty="0"/>
          </a:p>
        </p:txBody>
      </p:sp>
      <p:sp>
        <p:nvSpPr>
          <p:cNvPr id="7" name="Shape 5"/>
          <p:cNvSpPr/>
          <p:nvPr/>
        </p:nvSpPr>
        <p:spPr>
          <a:xfrm>
            <a:off x="365760" y="1280160"/>
            <a:ext cx="4114800" cy="3566160"/>
          </a:xfrm>
          <a:prstGeom prst="rect">
            <a:avLst/>
          </a:prstGeom>
          <a:solidFill>
            <a:srgbClr val="0C1020"/>
          </a:solidFill>
          <a:ln w="12700">
            <a:solidFill>
              <a:srgbClr val="5A9E6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65760" y="1417320"/>
            <a:ext cx="4114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ru-RU" sz="4000" b="1" dirty="0" smtClean="0">
                <a:solidFill>
                  <a:srgbClr val="5A9E6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58</a:t>
            </a:r>
            <a:r>
              <a:rPr lang="en-US" sz="4000" b="1" dirty="0" smtClean="0">
                <a:solidFill>
                  <a:srgbClr val="5A9E6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%</a:t>
            </a:r>
            <a:endParaRPr lang="en-US" sz="4000" dirty="0"/>
          </a:p>
        </p:txBody>
      </p:sp>
      <p:sp>
        <p:nvSpPr>
          <p:cNvPr id="9" name="Text 7"/>
          <p:cNvSpPr/>
          <p:nvPr/>
        </p:nvSpPr>
        <p:spPr>
          <a:xfrm>
            <a:off x="502920" y="2331720"/>
            <a:ext cx="38404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0ECE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Не рассматривают</a:t>
            </a:r>
            <a:endParaRPr lang="en-US" sz="1400" dirty="0"/>
          </a:p>
          <a:p>
            <a:pPr marL="0" indent="0" algn="ctr">
              <a:buNone/>
            </a:pPr>
            <a:r>
              <a:rPr lang="en-US" sz="1400" b="1" dirty="0">
                <a:solidFill>
                  <a:srgbClr val="F0ECE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эмиграцию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1737360" y="3035808"/>
            <a:ext cx="1371600" cy="27432"/>
          </a:xfrm>
          <a:prstGeom prst="rect">
            <a:avLst/>
          </a:prstGeom>
          <a:solidFill>
            <a:srgbClr val="5A9E6E"/>
          </a:solidFill>
          <a:ln w="12700">
            <a:solidFill>
              <a:srgbClr val="5A9E6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48640" y="3127248"/>
            <a:ext cx="374904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200" dirty="0">
                <a:solidFill>
                  <a:srgbClr val="7A7E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Три из четырёх опрошенных связывают своё будущее с Россией. Они верят в возможности внутри страны.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754880" y="1280160"/>
            <a:ext cx="4114800" cy="3566160"/>
          </a:xfrm>
          <a:prstGeom prst="rect">
            <a:avLst/>
          </a:prstGeom>
          <a:solidFill>
            <a:srgbClr val="0C1020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754880" y="1417320"/>
            <a:ext cx="4114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ru-RU" sz="4000" b="1" dirty="0" smtClean="0">
                <a:solidFill>
                  <a:srgbClr val="C0392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42</a:t>
            </a:r>
            <a:r>
              <a:rPr lang="en-US" sz="4000" b="1" dirty="0" smtClean="0">
                <a:solidFill>
                  <a:srgbClr val="C0392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%</a:t>
            </a:r>
            <a:endParaRPr lang="en-US" sz="4000" dirty="0"/>
          </a:p>
        </p:txBody>
      </p:sp>
      <p:sp>
        <p:nvSpPr>
          <p:cNvPr id="14" name="Text 12"/>
          <p:cNvSpPr/>
          <p:nvPr/>
        </p:nvSpPr>
        <p:spPr>
          <a:xfrm>
            <a:off x="4892040" y="2331720"/>
            <a:ext cx="38404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0ECE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Рассматривают</a:t>
            </a:r>
            <a:endParaRPr lang="en-US" sz="1400" dirty="0"/>
          </a:p>
          <a:p>
            <a:pPr marL="0" indent="0" algn="ctr">
              <a:buNone/>
            </a:pPr>
            <a:r>
              <a:rPr lang="en-US" sz="1400" b="1" dirty="0">
                <a:solidFill>
                  <a:srgbClr val="F0ECE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отъезд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6126480" y="3035808"/>
            <a:ext cx="1371600" cy="27432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937760" y="3127248"/>
            <a:ext cx="374904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200" dirty="0">
                <a:solidFill>
                  <a:srgbClr val="7A7E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Каждый четвёртый думает об эмиграции. Главная причина — региональное неравенство возможностей</a:t>
            </a:r>
            <a:r>
              <a:rPr lang="en-US" sz="1100" dirty="0">
                <a:solidFill>
                  <a:srgbClr val="7A7E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100" dirty="0"/>
          </a:p>
        </p:txBody>
      </p:sp>
    </p:spTree>
  </p:cSld>
  <p:clrMapOvr>
    <a:masterClrMapping/>
  </p:clrMapOvr>
  <p:transition spd="slow">
    <p:push dir="u"/>
  </p:transition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60912"/>
          </a:solidFill>
          <a:ln w="12700">
            <a:solidFill>
              <a:srgbClr val="0609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C9A84C"/>
          </a:solidFill>
          <a:ln w="12700">
            <a:solidFill>
              <a:srgbClr val="C9A84C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C9A84C"/>
          </a:solidFill>
          <a:ln w="12700">
            <a:solidFill>
              <a:srgbClr val="C9A84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365760" y="13716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kern="0" spc="300" dirty="0">
                <a:solidFill>
                  <a:srgbClr val="C9A8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БАРЬЕРЫ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365760" y="502920"/>
            <a:ext cx="8229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F0ECE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Барьеры для реализации</a:t>
            </a:r>
            <a:endParaRPr lang="en-US" sz="3000" dirty="0"/>
          </a:p>
        </p:txBody>
      </p:sp>
      <p:sp>
        <p:nvSpPr>
          <p:cNvPr id="7" name="Shape 5"/>
          <p:cNvSpPr/>
          <p:nvPr/>
        </p:nvSpPr>
        <p:spPr>
          <a:xfrm>
            <a:off x="365760" y="1280160"/>
            <a:ext cx="8412480" cy="777240"/>
          </a:xfrm>
          <a:prstGeom prst="rect">
            <a:avLst/>
          </a:prstGeom>
          <a:solidFill>
            <a:srgbClr val="0C1020"/>
          </a:solidFill>
          <a:ln w="12700">
            <a:solidFill>
              <a:srgbClr val="0C1020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65760" y="1280160"/>
            <a:ext cx="73152" cy="777240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94360" y="1325880"/>
            <a:ext cx="5943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0EC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Региональное неравенство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594360" y="1664208"/>
            <a:ext cx="5943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7A7E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Возможности сосредоточены в крупных городах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7772400" y="1417320"/>
            <a:ext cx="9144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C0392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42%</a:t>
            </a:r>
            <a:endParaRPr lang="en-US" sz="2000" dirty="0"/>
          </a:p>
        </p:txBody>
      </p:sp>
      <p:sp>
        <p:nvSpPr>
          <p:cNvPr id="12" name="Shape 10"/>
          <p:cNvSpPr/>
          <p:nvPr/>
        </p:nvSpPr>
        <p:spPr>
          <a:xfrm>
            <a:off x="365760" y="2167128"/>
            <a:ext cx="8412480" cy="777240"/>
          </a:xfrm>
          <a:prstGeom prst="rect">
            <a:avLst/>
          </a:prstGeom>
          <a:solidFill>
            <a:srgbClr val="0C1020"/>
          </a:solidFill>
          <a:ln w="12700">
            <a:solidFill>
              <a:srgbClr val="0C102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67128"/>
            <a:ext cx="73152" cy="777240"/>
          </a:xfrm>
          <a:prstGeom prst="rect">
            <a:avLst/>
          </a:prstGeom>
          <a:solidFill>
            <a:srgbClr val="4A9EFF"/>
          </a:solidFill>
          <a:ln w="12700">
            <a:solidFill>
              <a:srgbClr val="4A9E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94360" y="2212848"/>
            <a:ext cx="5943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0EC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Недостаток информации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594360" y="2551176"/>
            <a:ext cx="5943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7A7E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Молодёжь не знает о государственных программах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7772400" y="2304288"/>
            <a:ext cx="9144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4A9E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31%</a:t>
            </a:r>
            <a:endParaRPr lang="en-US" sz="2000" dirty="0"/>
          </a:p>
        </p:txBody>
      </p:sp>
      <p:sp>
        <p:nvSpPr>
          <p:cNvPr id="17" name="Shape 15"/>
          <p:cNvSpPr/>
          <p:nvPr/>
        </p:nvSpPr>
        <p:spPr>
          <a:xfrm>
            <a:off x="365760" y="3054096"/>
            <a:ext cx="8412480" cy="777240"/>
          </a:xfrm>
          <a:prstGeom prst="rect">
            <a:avLst/>
          </a:prstGeom>
          <a:solidFill>
            <a:srgbClr val="0C1020"/>
          </a:solidFill>
          <a:ln w="12700">
            <a:solidFill>
              <a:srgbClr val="0C102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65760" y="3054096"/>
            <a:ext cx="73152" cy="777240"/>
          </a:xfrm>
          <a:prstGeom prst="rect">
            <a:avLst/>
          </a:prstGeom>
          <a:solidFill>
            <a:srgbClr val="C9A84C"/>
          </a:solidFill>
          <a:ln w="12700">
            <a:solidFill>
              <a:srgbClr val="C9A84C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94360" y="3099816"/>
            <a:ext cx="5943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0EC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Финансовые ограничения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594360" y="3438144"/>
            <a:ext cx="5943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7A7E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Высокий стартовый барьер для предпринимательства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7772400" y="3191256"/>
            <a:ext cx="9144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C9A84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18%</a:t>
            </a:r>
            <a:endParaRPr lang="en-US" sz="2000" dirty="0"/>
          </a:p>
        </p:txBody>
      </p:sp>
      <p:sp>
        <p:nvSpPr>
          <p:cNvPr id="22" name="Shape 20"/>
          <p:cNvSpPr/>
          <p:nvPr/>
        </p:nvSpPr>
        <p:spPr>
          <a:xfrm>
            <a:off x="365760" y="3941064"/>
            <a:ext cx="8412480" cy="777240"/>
          </a:xfrm>
          <a:prstGeom prst="rect">
            <a:avLst/>
          </a:prstGeom>
          <a:solidFill>
            <a:srgbClr val="0C1020"/>
          </a:solidFill>
          <a:ln w="12700">
            <a:solidFill>
              <a:srgbClr val="0C102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365760" y="3941064"/>
            <a:ext cx="73152" cy="777240"/>
          </a:xfrm>
          <a:prstGeom prst="rect">
            <a:avLst/>
          </a:prstGeom>
          <a:solidFill>
            <a:srgbClr val="7A7E96"/>
          </a:solidFill>
          <a:ln w="12700">
            <a:solidFill>
              <a:srgbClr val="7A7E96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94360" y="3986784"/>
            <a:ext cx="5943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0EC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Другие причины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594360" y="4325112"/>
            <a:ext cx="5943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7A7E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Бюрократия, связи, конкуренция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7772400" y="4078224"/>
            <a:ext cx="9144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7A7E9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9%</a:t>
            </a:r>
            <a:endParaRPr lang="en-US" sz="2000"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500">
        <p:split orient="vert"/>
      </p:transition>
    </mc:Choice>
    <mc:Fallback xmlns="">
      <p:transition spd="slow">
        <p:split orient="vert"/>
      </p:transition>
    </mc:Fallback>
  </mc:AlternateContent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60912"/>
          </a:solidFill>
          <a:ln w="12700">
            <a:solidFill>
              <a:srgbClr val="0609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C9A84C"/>
          </a:solidFill>
          <a:ln w="12700">
            <a:solidFill>
              <a:srgbClr val="C9A84C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C9A84C"/>
          </a:solidFill>
          <a:ln w="12700">
            <a:solidFill>
              <a:srgbClr val="C9A84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365760" y="13716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kern="0" spc="300" dirty="0">
                <a:solidFill>
                  <a:srgbClr val="C9A8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ВЫВОДЫ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365760" y="502920"/>
            <a:ext cx="8229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0ECE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Гипотеза подтверждена частично</a:t>
            </a:r>
            <a:endParaRPr lang="en-US" sz="2800" dirty="0"/>
          </a:p>
        </p:txBody>
      </p:sp>
      <p:sp>
        <p:nvSpPr>
          <p:cNvPr id="7" name="Shape 5"/>
          <p:cNvSpPr/>
          <p:nvPr/>
        </p:nvSpPr>
        <p:spPr>
          <a:xfrm>
            <a:off x="365760" y="1280160"/>
            <a:ext cx="8412480" cy="658368"/>
          </a:xfrm>
          <a:prstGeom prst="rect">
            <a:avLst/>
          </a:prstGeom>
          <a:solidFill>
            <a:srgbClr val="0C1020"/>
          </a:solidFill>
          <a:ln w="12700">
            <a:solidFill>
              <a:srgbClr val="0C1020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65760" y="1280160"/>
            <a:ext cx="548640" cy="658368"/>
          </a:xfrm>
          <a:prstGeom prst="rect">
            <a:avLst/>
          </a:prstGeom>
          <a:solidFill>
            <a:srgbClr val="5A9E6E"/>
          </a:solidFill>
          <a:ln w="12700">
            <a:solidFill>
              <a:srgbClr val="5A9E6E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65760" y="1280160"/>
            <a:ext cx="54864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+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1051560" y="1417320"/>
            <a:ext cx="74980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0EC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Россия предоставляет возможности — молодёжь это признаёт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365760" y="2029968"/>
            <a:ext cx="8412480" cy="658368"/>
          </a:xfrm>
          <a:prstGeom prst="rect">
            <a:avLst/>
          </a:prstGeom>
          <a:solidFill>
            <a:srgbClr val="0C1020"/>
          </a:solidFill>
          <a:ln w="12700">
            <a:solidFill>
              <a:srgbClr val="0C102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65760" y="2029968"/>
            <a:ext cx="548640" cy="658368"/>
          </a:xfrm>
          <a:prstGeom prst="rect">
            <a:avLst/>
          </a:prstGeom>
          <a:solidFill>
            <a:srgbClr val="5A9E6E"/>
          </a:solidFill>
          <a:ln w="12700">
            <a:solidFill>
              <a:srgbClr val="5A9E6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" y="2029968"/>
            <a:ext cx="54864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+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051560" y="2167128"/>
            <a:ext cx="74980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0EC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Средняя оценка возможностей — 3.5 из 5 (позитивно)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65760" y="2779776"/>
            <a:ext cx="8412480" cy="658368"/>
          </a:xfrm>
          <a:prstGeom prst="rect">
            <a:avLst/>
          </a:prstGeom>
          <a:solidFill>
            <a:srgbClr val="0C1020"/>
          </a:solidFill>
          <a:ln w="12700">
            <a:solidFill>
              <a:srgbClr val="0C102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65760" y="2779776"/>
            <a:ext cx="548640" cy="658368"/>
          </a:xfrm>
          <a:prstGeom prst="rect">
            <a:avLst/>
          </a:prstGeom>
          <a:solidFill>
            <a:srgbClr val="5A9E6E"/>
          </a:solidFill>
          <a:ln w="12700">
            <a:solidFill>
              <a:srgbClr val="5A9E6E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2779776"/>
            <a:ext cx="54864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+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1051560" y="2916936"/>
            <a:ext cx="74980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0EC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IT-сфера воспринимается как наиболее доступная и перспективная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65760" y="3529584"/>
            <a:ext cx="8412480" cy="658368"/>
          </a:xfrm>
          <a:prstGeom prst="rect">
            <a:avLst/>
          </a:prstGeom>
          <a:solidFill>
            <a:srgbClr val="0C1020"/>
          </a:solidFill>
          <a:ln w="12700">
            <a:solidFill>
              <a:srgbClr val="0C102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65760" y="3529584"/>
            <a:ext cx="548640" cy="658368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365760" y="3529584"/>
            <a:ext cx="54864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1051560" y="3666744"/>
            <a:ext cx="74980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0EC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Доступность возможностей неравномерна по регионам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65760" y="4279392"/>
            <a:ext cx="8412480" cy="658368"/>
          </a:xfrm>
          <a:prstGeom prst="rect">
            <a:avLst/>
          </a:prstGeom>
          <a:solidFill>
            <a:srgbClr val="0C1020"/>
          </a:solidFill>
          <a:ln w="12700">
            <a:solidFill>
              <a:srgbClr val="0C102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4279392"/>
            <a:ext cx="548640" cy="658368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65760" y="4279392"/>
            <a:ext cx="54864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</a:t>
            </a:r>
            <a:endParaRPr lang="en-US" sz="1800" dirty="0"/>
          </a:p>
        </p:txBody>
      </p:sp>
      <p:sp>
        <p:nvSpPr>
          <p:cNvPr id="26" name="Text 24"/>
          <p:cNvSpPr/>
          <p:nvPr/>
        </p:nvSpPr>
        <p:spPr>
          <a:xfrm>
            <a:off x="1051560" y="4416552"/>
            <a:ext cx="74980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0EC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Информированность о государственных программах остаётся низкой</a:t>
            </a:r>
            <a:endParaRPr lang="en-US" sz="1200"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500">
        <p:split orient="vert"/>
      </p:transition>
    </mc:Choice>
    <mc:Fallback xmlns="">
      <p:transition spd="slow">
        <p:split orient="vert"/>
      </p:transition>
    </mc:Fallback>
  </mc:AlternateContent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60912"/>
          </a:solidFill>
          <a:ln w="12700">
            <a:solidFill>
              <a:srgbClr val="0609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C9A84C"/>
          </a:solidFill>
          <a:ln w="12700">
            <a:solidFill>
              <a:srgbClr val="C9A84C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C9A84C"/>
          </a:solidFill>
          <a:ln w="12700">
            <a:solidFill>
              <a:srgbClr val="C9A84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365760" y="13716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kern="0" spc="300" dirty="0">
                <a:solidFill>
                  <a:srgbClr val="C9A8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РЕКОМЕНДАЦИИ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365760" y="502920"/>
            <a:ext cx="8229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F0ECE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Рекомендации</a:t>
            </a:r>
            <a:endParaRPr lang="en-US" sz="3000" dirty="0"/>
          </a:p>
        </p:txBody>
      </p:sp>
      <p:sp>
        <p:nvSpPr>
          <p:cNvPr id="7" name="Shape 5"/>
          <p:cNvSpPr/>
          <p:nvPr/>
        </p:nvSpPr>
        <p:spPr>
          <a:xfrm>
            <a:off x="365760" y="1280160"/>
            <a:ext cx="2651760" cy="3474720"/>
          </a:xfrm>
          <a:prstGeom prst="rect">
            <a:avLst/>
          </a:prstGeom>
          <a:solidFill>
            <a:srgbClr val="0C1020"/>
          </a:solidFill>
          <a:ln w="12700">
            <a:solidFill>
              <a:srgbClr val="C9A84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65760" y="1371600"/>
            <a:ext cx="26517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600" b="1" dirty="0">
                <a:solidFill>
                  <a:srgbClr val="C9A84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01</a:t>
            </a:r>
            <a:endParaRPr lang="en-US" sz="3600" dirty="0"/>
          </a:p>
        </p:txBody>
      </p:sp>
      <p:sp>
        <p:nvSpPr>
          <p:cNvPr id="9" name="Shape 7"/>
          <p:cNvSpPr/>
          <p:nvPr/>
        </p:nvSpPr>
        <p:spPr>
          <a:xfrm>
            <a:off x="1143000" y="2148840"/>
            <a:ext cx="1097280" cy="36576"/>
          </a:xfrm>
          <a:prstGeom prst="rect">
            <a:avLst/>
          </a:prstGeom>
          <a:solidFill>
            <a:srgbClr val="C9A84C"/>
          </a:solidFill>
          <a:ln w="12700">
            <a:solidFill>
              <a:srgbClr val="C9A84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57200" y="2240280"/>
            <a:ext cx="24688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0ECE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IT-хабы в регионах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502920" y="2834640"/>
            <a:ext cx="2377440" cy="1737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200" dirty="0">
                <a:solidFill>
                  <a:srgbClr val="7A7E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Создание образовательных IT-центров за пределами крупных городов для выравнивания доступа к возможностям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3246120" y="1280160"/>
            <a:ext cx="2651760" cy="3474720"/>
          </a:xfrm>
          <a:prstGeom prst="rect">
            <a:avLst/>
          </a:prstGeom>
          <a:solidFill>
            <a:srgbClr val="0C1020"/>
          </a:solidFill>
          <a:ln w="12700">
            <a:solidFill>
              <a:srgbClr val="4A9E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246120" y="1371600"/>
            <a:ext cx="26517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600" b="1" dirty="0">
                <a:solidFill>
                  <a:srgbClr val="4A9E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02</a:t>
            </a:r>
            <a:endParaRPr lang="en-US" sz="3600" dirty="0"/>
          </a:p>
        </p:txBody>
      </p:sp>
      <p:sp>
        <p:nvSpPr>
          <p:cNvPr id="14" name="Shape 12"/>
          <p:cNvSpPr/>
          <p:nvPr/>
        </p:nvSpPr>
        <p:spPr>
          <a:xfrm>
            <a:off x="4023360" y="2148840"/>
            <a:ext cx="1097280" cy="36576"/>
          </a:xfrm>
          <a:prstGeom prst="rect">
            <a:avLst/>
          </a:prstGeom>
          <a:solidFill>
            <a:srgbClr val="4A9EFF"/>
          </a:solidFill>
          <a:ln w="12700">
            <a:solidFill>
              <a:srgbClr val="4A9E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337560" y="2240280"/>
            <a:ext cx="24688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0ECE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Информирование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3383280" y="2834640"/>
            <a:ext cx="2377440" cy="1737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200" dirty="0">
                <a:solidFill>
                  <a:srgbClr val="7A7E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Активное продвижение государственных программ и грантов среди молодёжи через социальные сети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126480" y="1280160"/>
            <a:ext cx="2651760" cy="3474720"/>
          </a:xfrm>
          <a:prstGeom prst="rect">
            <a:avLst/>
          </a:prstGeom>
          <a:solidFill>
            <a:srgbClr val="0C1020"/>
          </a:solidFill>
          <a:ln w="12700">
            <a:solidFill>
              <a:srgbClr val="5A9E6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126480" y="1371600"/>
            <a:ext cx="26517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600" b="1" dirty="0">
                <a:solidFill>
                  <a:srgbClr val="5A9E6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03</a:t>
            </a:r>
            <a:endParaRPr lang="en-US" sz="3600" dirty="0"/>
          </a:p>
        </p:txBody>
      </p:sp>
      <p:sp>
        <p:nvSpPr>
          <p:cNvPr id="19" name="Shape 17"/>
          <p:cNvSpPr/>
          <p:nvPr/>
        </p:nvSpPr>
        <p:spPr>
          <a:xfrm>
            <a:off x="6903720" y="2148840"/>
            <a:ext cx="1097280" cy="36576"/>
          </a:xfrm>
          <a:prstGeom prst="rect">
            <a:avLst/>
          </a:prstGeom>
          <a:solidFill>
            <a:srgbClr val="5A9E6E"/>
          </a:solidFill>
          <a:ln w="12700">
            <a:solidFill>
              <a:srgbClr val="5A9E6E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217920" y="2240280"/>
            <a:ext cx="24688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0ECE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Поддержка бизнеса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6263640" y="2834640"/>
            <a:ext cx="2377440" cy="1737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200" dirty="0">
                <a:solidFill>
                  <a:srgbClr val="7A7E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Расширение грантовых программ и снижение барьеров для молодых предпринимателей до 25 лет</a:t>
            </a:r>
            <a:endParaRPr lang="en-US" sz="1200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60912"/>
          </a:solidFill>
          <a:ln w="12700">
            <a:solidFill>
              <a:srgbClr val="0609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C9A84C"/>
          </a:solidFill>
          <a:ln w="12700">
            <a:solidFill>
              <a:srgbClr val="C9A84C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0" y="5106924"/>
            <a:ext cx="9144000" cy="36576"/>
          </a:xfrm>
          <a:prstGeom prst="rect">
            <a:avLst/>
          </a:prstGeom>
          <a:solidFill>
            <a:srgbClr val="C9A84C"/>
          </a:solidFill>
          <a:ln w="12700">
            <a:solidFill>
              <a:srgbClr val="C9A84C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C9A84C"/>
          </a:solidFill>
          <a:ln w="12700">
            <a:solidFill>
              <a:srgbClr val="C9A84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65760" y="1097280"/>
            <a:ext cx="84124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800" b="1" dirty="0">
                <a:solidFill>
                  <a:srgbClr val="C9A84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Спасибо за внимание!</a:t>
            </a:r>
            <a:endParaRPr lang="en-US" sz="3800" dirty="0"/>
          </a:p>
        </p:txBody>
      </p:sp>
      <p:sp>
        <p:nvSpPr>
          <p:cNvPr id="7" name="Text 5"/>
          <p:cNvSpPr/>
          <p:nvPr/>
        </p:nvSpPr>
        <p:spPr>
          <a:xfrm>
            <a:off x="365760" y="2103120"/>
            <a:ext cx="8412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i="1" dirty="0">
                <a:solidFill>
                  <a:srgbClr val="E8C97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Россия — Страна Возможностей</a:t>
            </a:r>
            <a:endParaRPr lang="en-US" sz="2400" dirty="0"/>
          </a:p>
        </p:txBody>
      </p:sp>
      <p:sp>
        <p:nvSpPr>
          <p:cNvPr id="8" name="Shape 6"/>
          <p:cNvSpPr/>
          <p:nvPr/>
        </p:nvSpPr>
        <p:spPr>
          <a:xfrm>
            <a:off x="3200400" y="2788920"/>
            <a:ext cx="2743200" cy="36576"/>
          </a:xfrm>
          <a:prstGeom prst="rect">
            <a:avLst/>
          </a:prstGeom>
          <a:solidFill>
            <a:srgbClr val="C9A84C"/>
          </a:solidFill>
          <a:ln w="12700">
            <a:solidFill>
              <a:srgbClr val="C9A84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65760" y="3055239"/>
            <a:ext cx="84124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0EC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Эргашов Амирхон Зоирович</a:t>
            </a:r>
            <a:endParaRPr lang="en-US" sz="1400" dirty="0"/>
          </a:p>
          <a:p>
            <a:pPr marL="0" indent="0" algn="ctr">
              <a:buNone/>
            </a:pPr>
            <a:r>
              <a:rPr lang="en-US" sz="1400" b="1" dirty="0">
                <a:solidFill>
                  <a:srgbClr val="F0EC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Мансуров </a:t>
            </a:r>
            <a:r>
              <a:rPr lang="en-US" sz="1400" b="1" dirty="0" err="1">
                <a:solidFill>
                  <a:srgbClr val="F0EC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Бахтиёр</a:t>
            </a:r>
            <a:r>
              <a:rPr lang="en-US" sz="1400" b="1" dirty="0">
                <a:solidFill>
                  <a:srgbClr val="F0EC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400" b="1" dirty="0" err="1" smtClean="0">
                <a:solidFill>
                  <a:srgbClr val="F0EC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Абдурозикович</a:t>
            </a:r>
            <a:endParaRPr lang="ru-RU" sz="1400" b="1" dirty="0" smtClean="0">
              <a:solidFill>
                <a:srgbClr val="F0ECE0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algn="ctr"/>
            <a:r>
              <a:rPr lang="ru-RU" sz="1400" b="1" dirty="0" err="1">
                <a:solidFill>
                  <a:srgbClr val="F0EC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Хайдаралиев</a:t>
            </a:r>
            <a:r>
              <a:rPr lang="ru-RU" sz="1400" b="1" dirty="0">
                <a:solidFill>
                  <a:srgbClr val="F0EC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ru-RU" sz="1400" b="1" dirty="0" err="1">
                <a:solidFill>
                  <a:srgbClr val="F0EC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Ифтихор</a:t>
            </a:r>
            <a:r>
              <a:rPr lang="ru-RU" sz="1400" b="1" dirty="0">
                <a:solidFill>
                  <a:srgbClr val="F0EC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ru-RU" sz="1400" b="1" dirty="0" err="1">
                <a:solidFill>
                  <a:srgbClr val="F0EC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Аскаралиевич</a:t>
            </a:r>
            <a:endParaRPr lang="ru-RU" sz="1400" b="1" dirty="0">
              <a:solidFill>
                <a:srgbClr val="F0ECE0"/>
              </a:solidFill>
              <a:latin typeface="Calibri" pitchFamily="34" charset="0"/>
              <a:cs typeface="Calibri" pitchFamily="34" charset="-120"/>
            </a:endParaRPr>
          </a:p>
          <a:p>
            <a:pPr marL="0" indent="0" algn="ctr">
              <a:buNone/>
            </a:pP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365760" y="3657600"/>
            <a:ext cx="8412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kern="0" spc="100" dirty="0">
                <a:solidFill>
                  <a:srgbClr val="7A7E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Группа П-118  ·  ОРГ  ·  Тюменский государственный университет  ·  2026</a:t>
            </a:r>
            <a:endParaRPr lang="en-US" sz="1200"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500">
        <p:split orient="vert"/>
      </p:transition>
    </mc:Choice>
    <mc:Fallback xmlns="">
      <p:transition spd="slow">
        <p:split orient="vert"/>
      </p:transition>
    </mc:Fallback>
  </mc:AlternateContent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38</TotalTime>
  <Words>477</Words>
  <Application>Microsoft Office PowerPoint</Application>
  <PresentationFormat>Экран (16:9)</PresentationFormat>
  <Paragraphs>136</Paragraphs>
  <Slides>10</Slides>
  <Notes>10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3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10</vt:i4>
      </vt:variant>
    </vt:vector>
  </HeadingPairs>
  <TitlesOfParts>
    <vt:vector size="14" baseType="lpstr">
      <vt:lpstr>Arial</vt:lpstr>
      <vt:lpstr>Calibri</vt:lpstr>
      <vt:lpstr>Georgia</vt:lpstr>
      <vt:lpstr>Office Theme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Company>PptxGenJS</Company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Россия — Страна Возможностей</dc:title>
  <dc:subject>PptxGenJS Presentation</dc:subject>
  <dc:creator>Эргашов А.З., Мансуров Б.А.</dc:creator>
  <cp:lastModifiedBy>тоха</cp:lastModifiedBy>
  <cp:revision>8</cp:revision>
  <dcterms:created xsi:type="dcterms:W3CDTF">2026-06-05T20:50:37Z</dcterms:created>
  <dcterms:modified xsi:type="dcterms:W3CDTF">2026-06-09T16:41:48Z</dcterms:modified>
</cp:coreProperties>
</file>