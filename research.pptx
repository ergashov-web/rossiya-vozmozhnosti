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572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400" kern="0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ИССЛЕДОВАНИЕ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5943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E8C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Россия — Страна Возможностей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65760" y="2286000"/>
            <a:ext cx="2286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4231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Эргашов Амирхон Зоирович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7249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 проекта · анализ данных · разработка сайта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30632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Мансуров Бахтиёр Абдурозикович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36499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Участник проекта · сбор данных · презентация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П-118  ·  ОРГ  ·  ТюмГУ  ·  2026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83680" y="548640"/>
            <a:ext cx="2286000" cy="91440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5943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583680" y="11155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Респондентов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583680" y="1572768"/>
            <a:ext cx="2286000" cy="914400"/>
          </a:xfrm>
          <a:prstGeom prst="rect">
            <a:avLst/>
          </a:prstGeom>
          <a:solidFill>
            <a:srgbClr val="0C102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161848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583680" y="213969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Вопросов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583680" y="2596896"/>
            <a:ext cx="2286000" cy="914400"/>
          </a:xfrm>
          <a:prstGeom prst="rect">
            <a:avLst/>
          </a:prstGeom>
          <a:solidFill>
            <a:srgbClr val="0C1020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2642616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9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583680" y="316382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Блоков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583680" y="3621024"/>
            <a:ext cx="2286000" cy="914400"/>
          </a:xfrm>
          <a:prstGeom prst="rect">
            <a:avLst/>
          </a:prstGeom>
          <a:solidFill>
            <a:srgbClr val="0C1020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3666744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3.5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583680" y="418795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Ср. оценка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ГИПОТЕЗА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Цель и гипотеза исследования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3931920" cy="338328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Цель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Изучить, как молодёжь Тюмени воспринимает возможности в современной России — в сфере образования, карьеры и предпринимательства.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114800" cy="3383280"/>
          </a:xfrm>
          <a:prstGeom prst="rect">
            <a:avLst/>
          </a:prstGeom>
          <a:solidFill>
            <a:srgbClr val="0C1020"/>
          </a:solidFill>
          <a:ln w="12700">
            <a:solidFill>
              <a:srgbClr val="E8C9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417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Гипотеза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0600" y="1874520"/>
            <a:ext cx="37490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Россия предоставляет возможности, но их доступность неравномерна — особенно в сфере IT и по регионам страны.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МЕТОДОЛОГИЯ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Методология исследования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8412480" cy="5486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89888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51760" y="1389888"/>
            <a:ext cx="5943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Онлайн-анкетирование (Google Forms)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901952"/>
            <a:ext cx="8412480" cy="5486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0116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Аудитория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011680"/>
            <a:ext cx="5943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Молодёжь 14–22 лет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523744"/>
            <a:ext cx="8412480" cy="5486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633472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Период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51760" y="2633472"/>
            <a:ext cx="5943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2025–2026 учебный год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145536"/>
            <a:ext cx="8412480" cy="5486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2552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Анонимность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51760" y="3255264"/>
            <a:ext cx="5943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Гарантирована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767328"/>
            <a:ext cx="8412480" cy="5486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877056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651760" y="3877056"/>
            <a:ext cx="5943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респондента · 18 вопросов · 5 блоков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Блоки анкеты: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4892040"/>
            <a:ext cx="1554480" cy="59436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8920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" y="51206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Портрет респондента (4 вопроса)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011680" y="4892040"/>
            <a:ext cx="1554480" cy="59436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11680" y="48920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057400" y="51206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0" y="4892040"/>
            <a:ext cx="1554480" cy="59436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0" y="48920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703320" y="51206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Карьера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303520" y="4892040"/>
            <a:ext cx="1554480" cy="59436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0" y="48920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349240" y="51206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949440" y="4892040"/>
            <a:ext cx="1554480" cy="59436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49440" y="48920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995160" y="51206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оценка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ДАННЫЕ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Ключевые цифры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2743200" cy="256032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1732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57%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7200" y="260604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выбрали 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сферу №1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1280160"/>
            <a:ext cx="2743200" cy="2560320"/>
          </a:xfrm>
          <a:prstGeom prst="rect">
            <a:avLst/>
          </a:prstGeom>
          <a:solidFill>
            <a:srgbClr val="0C1020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41732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9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3.5/5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291840" y="260604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 оценка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возможностей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280160"/>
            <a:ext cx="2743200" cy="2560320"/>
          </a:xfrm>
          <a:prstGeom prst="rect">
            <a:avLst/>
          </a:prstGeom>
          <a:solidFill>
            <a:srgbClr val="0C1020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141732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126480" y="260604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рассматривают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эмиграцию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39319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получены в ходе анкетирования 24 респондентов · 2025–2026 уч. год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Предпочтения молодёжи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и технологии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34640" y="13533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4640" y="1353312"/>
            <a:ext cx="2866644" cy="2743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2724" y="128016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Медицина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34640" y="20391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34640" y="2039112"/>
            <a:ext cx="854964" cy="274320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81044" y="196596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26517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 / торговля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34640" y="27249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34640" y="2724912"/>
            <a:ext cx="653796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79876" y="265176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33375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34640" y="34107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34640" y="3410712"/>
            <a:ext cx="402336" cy="274320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28416" y="333756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" y="40233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Другое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834640" y="40965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4640" y="4096512"/>
            <a:ext cx="251460" cy="274320"/>
          </a:xfrm>
          <a:prstGeom prst="rect">
            <a:avLst/>
          </a:prstGeom>
          <a:solidFill>
            <a:srgbClr val="7A7E96"/>
          </a:solidFill>
          <a:ln w="12700">
            <a:solidFill>
              <a:srgbClr val="7A7E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77540" y="402336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Какую сферу вы считаете наиболее перспективной в России?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Россия или эмиграция?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4114800" cy="3474720"/>
          </a:xfrm>
          <a:prstGeom prst="rect">
            <a:avLst/>
          </a:prstGeom>
          <a:solidFill>
            <a:srgbClr val="0C1020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6304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502920" y="26974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 рассматривают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эмиграцию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338328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Связывают своё будущее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Россией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280160"/>
            <a:ext cx="4114800" cy="3474720"/>
          </a:xfrm>
          <a:prstGeom prst="rect">
            <a:avLst/>
          </a:prstGeom>
          <a:solidFill>
            <a:srgbClr val="0C102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46304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25%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4892040" y="26974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Рассматривают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отъезд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92040" y="338328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Причина — региональное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неравенство возможностей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БАРЬЕРЫ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Барьеры для реализации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841248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280160"/>
            <a:ext cx="73152" cy="7772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3258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Региональное неравенство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1664208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Возможности сосредоточены в крупных городах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0" y="141732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42%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65760" y="2167128"/>
            <a:ext cx="841248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67128"/>
            <a:ext cx="73152" cy="777240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1284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Недостаток информации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255117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Молодёжь не знает о государственных программах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0" y="2304288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9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65760" y="3054096"/>
            <a:ext cx="841248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054096"/>
            <a:ext cx="73152" cy="7772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099816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Финансовые ограничения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" y="3438144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Высокий стартовый барьер для предпринимательства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0" y="3191256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18%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65760" y="3941064"/>
            <a:ext cx="841248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3941064"/>
            <a:ext cx="73152" cy="777240"/>
          </a:xfrm>
          <a:prstGeom prst="rect">
            <a:avLst/>
          </a:prstGeom>
          <a:solidFill>
            <a:srgbClr val="7A7E96"/>
          </a:solidFill>
          <a:ln w="12700">
            <a:solidFill>
              <a:srgbClr val="7A7E9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986784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Другие причины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94360" y="432511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Бюрократия, связи, конкуренция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0" y="4078224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7E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9%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Гипотеза подтверждена частично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280160"/>
            <a:ext cx="548640" cy="658368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280160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51560" y="141732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Россия предоставляет возможности — молодёжь это признаёт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29968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029968"/>
            <a:ext cx="548640" cy="658368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029968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51560" y="2167128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 оценка возможностей — 3.5 из 5 (позитивно)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779776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779776"/>
            <a:ext cx="548640" cy="658368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79776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51560" y="2916936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IT-сфера воспринимается как наиболее доступная и перспективная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529584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529584"/>
            <a:ext cx="548640" cy="6583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529584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51560" y="3666744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возможностей неравномерна по регионам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4279392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4279392"/>
            <a:ext cx="548640" cy="6583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279392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51560" y="4416552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Информированность о государственных программах остаётся низкой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РЕКОМЕНДАЦИИ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Рекомендации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2651760" cy="347472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71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1143000" y="2148840"/>
            <a:ext cx="109728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40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IT-хабы в регионах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83464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 образовательных IT-центров за пределами крупных городов для выравнивания доступа к возможностям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1280160"/>
            <a:ext cx="2651760" cy="3474720"/>
          </a:xfrm>
          <a:prstGeom prst="rect">
            <a:avLst/>
          </a:prstGeom>
          <a:solidFill>
            <a:srgbClr val="0C1020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371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A9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4023360" y="2148840"/>
            <a:ext cx="1097280" cy="36576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2240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Информирование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83280" y="283464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Активное продвижение государственных программ и грантов среди молодёжи через социальные сети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280160"/>
            <a:ext cx="2651760" cy="3474720"/>
          </a:xfrm>
          <a:prstGeom prst="rect">
            <a:avLst/>
          </a:prstGeom>
          <a:solidFill>
            <a:srgbClr val="0C1020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371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600" dirty="0"/>
          </a:p>
        </p:txBody>
      </p:sp>
      <p:sp>
        <p:nvSpPr>
          <p:cNvPr id="19" name="Shape 17"/>
          <p:cNvSpPr/>
          <p:nvPr/>
        </p:nvSpPr>
        <p:spPr>
          <a:xfrm>
            <a:off x="6903720" y="2148840"/>
            <a:ext cx="1097280" cy="36576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0" y="2240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Поддержка бизнеса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63640" y="283464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грантовых программ и снижение барьеров для молодых предпринимателей до 25 лет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 за внимание!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65760" y="21031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8C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Россия — Страна Возможностей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0" y="2788920"/>
            <a:ext cx="27432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9260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Эргашов Амирхон Зоирович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Мансуров Бахтиёр Абдурозикович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36576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П-118  ·  ОРГ  ·  Тюменский государственный университет  ·  2026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43000" y="4114800"/>
            <a:ext cx="228600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41148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143000" y="45537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респондента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4114800"/>
            <a:ext cx="228600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41148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9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57%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886200" y="45537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выбрали IT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629400" y="4114800"/>
            <a:ext cx="228600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41148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3.5/5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629400" y="45537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ср. оценка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Россия — Страна Возможностей</dc:title>
  <dc:subject>PptxGenJS Presentation</dc:subject>
  <dc:creator>Эргашов А.З., Мансуров Б.А.</dc:creator>
  <cp:lastModifiedBy>Эргашов А.З., Мансуров Б.А.</cp:lastModifiedBy>
  <cp:revision>1</cp:revision>
  <dcterms:created xsi:type="dcterms:W3CDTF">2026-06-05T10:34:32Z</dcterms:created>
  <dcterms:modified xsi:type="dcterms:W3CDTF">2026-06-05T10:34:32Z</dcterms:modified>
</cp:coreProperties>
</file>