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666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36576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572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ИССЛЕДОВАНИЕ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2286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724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</a:t>
            </a:r>
            <a:r>
              <a:rPr lang="en-US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сайта</a:t>
            </a:r>
            <a:r>
              <a:rPr lang="ru-RU" sz="1200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· </a:t>
            </a:r>
            <a:r>
              <a:rPr lang="en-US" sz="1200" dirty="0" err="1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Мансуров Бахтиёр Абдурозикович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Участник проекта · сбор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ТюмГУ  · 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548640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594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11155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Респондентов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0" y="1572768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6184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213969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583680" y="2596896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264261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83680" y="316382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Блоков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621024"/>
            <a:ext cx="2286000" cy="91440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66674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58368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оценка</a:t>
            </a:r>
            <a:endParaRPr 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365760" y="3653213"/>
            <a:ext cx="30771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айдаралиев</a:t>
            </a:r>
            <a:r>
              <a:rPr lang="ru-RU" sz="14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400" b="1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4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5760" y="3918585"/>
            <a:ext cx="231390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проекта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·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200" dirty="0" err="1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данных</a:t>
            </a: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ГИПОТЕЗА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гипотеза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93192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Изучить, как молодёжь Тюмени воспринимает возможности в современной России — в сфере образования, карьеры и </a:t>
            </a:r>
            <a:r>
              <a:rPr lang="en-US" sz="13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предпринимательства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300" dirty="0" smtClean="0">
                <a:solidFill>
                  <a:schemeClr val="bg1"/>
                </a:solidFill>
              </a:rPr>
              <a:t>Узнать</a:t>
            </a:r>
            <a:r>
              <a:rPr lang="ru-RU" sz="1300" dirty="0">
                <a:solidFill>
                  <a:schemeClr val="bg1"/>
                </a:solidFill>
              </a:rPr>
              <a:t xml:space="preserve">, какие возможности молодёжь считает реальными в современной </a:t>
            </a:r>
            <a:r>
              <a:rPr lang="ru-RU" sz="1300" dirty="0" smtClean="0">
                <a:solidFill>
                  <a:schemeClr val="bg1"/>
                </a:solidFill>
              </a:rPr>
              <a:t>России. Понять</a:t>
            </a:r>
            <a:r>
              <a:rPr lang="ru-RU" sz="1300" dirty="0">
                <a:solidFill>
                  <a:schemeClr val="bg1"/>
                </a:solidFill>
              </a:rPr>
              <a:t xml:space="preserve">, что мешает молодым людям реализовать свой </a:t>
            </a:r>
            <a:r>
              <a:rPr lang="ru-RU" sz="1300" dirty="0" smtClean="0">
                <a:solidFill>
                  <a:schemeClr val="bg1"/>
                </a:solidFill>
              </a:rPr>
              <a:t>потенциал.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3383280"/>
          </a:xfrm>
          <a:prstGeom prst="rect">
            <a:avLst/>
          </a:prstGeom>
          <a:solidFill>
            <a:srgbClr val="0C1020"/>
          </a:solidFill>
          <a:ln w="12700">
            <a:solidFill>
              <a:srgbClr val="E8C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Россия предоставляет возможности, но их доступность неравномерна — особенно в сфере IT и по регионам </a:t>
            </a:r>
            <a:r>
              <a:rPr lang="en-US" sz="13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страны</a:t>
            </a:r>
            <a:r>
              <a:rPr lang="en-US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u-RU" sz="1300" dirty="0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300" dirty="0">
                <a:solidFill>
                  <a:schemeClr val="bg2"/>
                </a:solidFill>
              </a:rPr>
              <a:t xml:space="preserve">Россия даёт шансы, но не всем одинаково — зависит от региона и сферы. </a:t>
            </a:r>
            <a:r>
              <a:rPr lang="ru-RU" sz="1300" dirty="0" smtClean="0">
                <a:solidFill>
                  <a:schemeClr val="bg2"/>
                </a:solidFill>
              </a:rPr>
              <a:t xml:space="preserve">Большинство </a:t>
            </a:r>
            <a:r>
              <a:rPr lang="ru-RU" sz="1300" dirty="0">
                <a:solidFill>
                  <a:schemeClr val="bg2"/>
                </a:solidFill>
              </a:rPr>
              <a:t xml:space="preserve">молодых людей хотят остаться и строить будущее </a:t>
            </a:r>
            <a:r>
              <a:rPr lang="ru-RU" sz="1300" dirty="0" smtClean="0">
                <a:solidFill>
                  <a:schemeClr val="bg2"/>
                </a:solidFill>
              </a:rPr>
              <a:t>здесь.</a:t>
            </a:r>
            <a:endParaRPr lang="en-US" sz="1300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Методология исследования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258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51760" y="132588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Онлайн-анкетирование (Google Forms)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764792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85623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18562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14–22 лет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295144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38658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51760" y="238658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 учебный год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825496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1693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Анонимность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916936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Гарантирована</a:t>
            </a:r>
            <a:endParaRPr lang="en-US" sz="11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65760" y="3355848"/>
            <a:ext cx="8412480" cy="47548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4472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44728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респондента · 18 вопросов · 5 блоков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9593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анкеты: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65760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20824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66544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75888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75888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21608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Карьера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30952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30952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76672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86016" y="4297680"/>
            <a:ext cx="1609344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6016" y="4315968"/>
            <a:ext cx="1609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31736" y="4599432"/>
            <a:ext cx="151790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2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ДАННЫЕ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цифры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</a:t>
            </a:r>
            <a:r>
              <a:rPr lang="en-US" sz="3600" b="1" dirty="0" smtClean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выбрали 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сферу №1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5840" y="3035808"/>
            <a:ext cx="1463040" cy="2743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половины опрошенных считают IT лучшей возможностью для карьеры в России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3.5/5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средняя оценка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возможностей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0" y="3035808"/>
            <a:ext cx="1463040" cy="27432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в целом позитивно оценивает перспективы — выше среднего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280160"/>
            <a:ext cx="27432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14173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36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0" y="3035808"/>
            <a:ext cx="146304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127248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второй связывает своё будущее с Россией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0668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Предпочтения молодёжи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и технологии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34640" y="13533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353312"/>
            <a:ext cx="4042410" cy="30175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2801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r>
              <a:rPr lang="en-US" sz="1200" b="1" dirty="0" smtClean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0391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2039112"/>
            <a:ext cx="854964" cy="27432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1044" y="19659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smtClean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651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34640" y="27249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4640" y="2724912"/>
            <a:ext cx="342900" cy="3017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2660904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b="1" dirty="0" smtClean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3375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34640" y="34107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3410712"/>
            <a:ext cx="402336" cy="274320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3375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200" b="1" dirty="0" smtClean="0">
                <a:solidFill>
                  <a:srgbClr val="5A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" y="40233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Другое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34640" y="4096512"/>
            <a:ext cx="5029200" cy="27432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096512"/>
            <a:ext cx="251460" cy="27432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77540" y="40233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b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00" b="1" dirty="0" smtClean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Какую сферу вы считаете наиболее перспективной в России?</a:t>
            </a:r>
            <a:endParaRPr 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382056" y="2010341"/>
            <a:ext cx="13484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</a:t>
            </a: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/ </a:t>
            </a:r>
            <a:r>
              <a:rPr lang="en-US" sz="1200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торговля</a:t>
            </a:r>
            <a:endParaRPr lang="ru-RU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или эмиграция?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58</a:t>
            </a:r>
            <a:r>
              <a:rPr lang="en-US" sz="4000" b="1" dirty="0" smtClean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 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эмиграцию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737360" y="3035808"/>
            <a:ext cx="1371600" cy="27432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второй опрошенный связывает своё будущее с Россией. Они верят в возможности внутри страны.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solidFill>
            <a:srgbClr val="0C102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4173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r>
              <a:rPr lang="en-US" sz="4000" b="1" dirty="0" smtClean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892040" y="23317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Рассматривают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отъезд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3035808"/>
            <a:ext cx="1371600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3127248"/>
            <a:ext cx="3749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Почти каждый второй думает об эмиграции. Главная причина — региональное неравенство возможностей</a:t>
            </a:r>
            <a:r>
              <a:rPr lang="en-US" sz="1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БАРЬЕРЫ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 для реализации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73152" cy="7772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258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неравенство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 сосредоточены в крупных городах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0" y="14173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5760" y="2167128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67128"/>
            <a:ext cx="73152" cy="77724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128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Недостаток информации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51176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Молодёжь не знает о государственных программах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0" y="230428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65760" y="3054096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054096"/>
            <a:ext cx="73152" cy="7772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09981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Финансовые ограничения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438144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стартовый барьер для предпринимательства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0" y="319125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365760" y="3941064"/>
            <a:ext cx="8412480" cy="777240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941064"/>
            <a:ext cx="73152" cy="777240"/>
          </a:xfrm>
          <a:prstGeom prst="rect">
            <a:avLst/>
          </a:prstGeom>
          <a:solidFill>
            <a:srgbClr val="7A7E96"/>
          </a:solidFill>
          <a:ln w="12700">
            <a:solidFill>
              <a:srgbClr val="7A7E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986784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 причины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94360" y="43251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Бюрократия, связи, конкуренция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407822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A7E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9%</a:t>
            </a:r>
            <a:endParaRPr lang="en-US" sz="2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Гипотеза подтверждена частично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80160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1417320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 предоставляет возможности — молодёжь это признаёт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29968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029968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2167128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оценка возможностей — 3.5 из 5 (позитивно)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79776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51560" y="2916936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IT-сфера воспринимается как наиболее доступная и перспективная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529584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529584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3666744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возможностей неравномерна по регионам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279392"/>
            <a:ext cx="8412480" cy="658368"/>
          </a:xfrm>
          <a:prstGeom prst="rect">
            <a:avLst/>
          </a:prstGeom>
          <a:solidFill>
            <a:srgbClr val="0C1020"/>
          </a:solidFill>
          <a:ln w="12700">
            <a:solidFill>
              <a:srgbClr val="0C10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279392"/>
            <a:ext cx="548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51560" y="4416552"/>
            <a:ext cx="7498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Информированность о государственных программах остаётся низкой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37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Рекомендации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143000" y="2148840"/>
            <a:ext cx="109728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IT-хабы в регионах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образовательных IT-центров за пределами крупных городов для выравнивания доступа к возможностям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A9E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023360" y="2148840"/>
            <a:ext cx="1097280" cy="36576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Информирование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Активное продвижение государственных программ и грантов среди молодёжи через социальные сети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280160"/>
            <a:ext cx="2651760" cy="3474720"/>
          </a:xfrm>
          <a:prstGeom prst="rect">
            <a:avLst/>
          </a:prstGeom>
          <a:solidFill>
            <a:srgbClr val="0C1020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37160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5A9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6903720" y="2148840"/>
            <a:ext cx="1097280" cy="36576"/>
          </a:xfrm>
          <a:prstGeom prst="rect">
            <a:avLst/>
          </a:prstGeom>
          <a:solidFill>
            <a:srgbClr val="5A9E6E"/>
          </a:solidFill>
          <a:ln w="12700">
            <a:solidFill>
              <a:srgbClr val="5A9E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2240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EC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Поддержка бизнеса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834640"/>
            <a:ext cx="2377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грантовых программ и снижение барьеров для молодых предпринимателей до 25 лет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0912"/>
          </a:solidFill>
          <a:ln w="12700">
            <a:solidFill>
              <a:srgbClr val="0609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E8C9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Россия — Страна Возможностей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055239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Эргашов Амирхон Зоирович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Мансуров </a:t>
            </a:r>
            <a:r>
              <a:rPr lang="en-US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Бахтиёр</a:t>
            </a:r>
            <a:r>
              <a:rPr lang="en-US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en-US" sz="1400" b="1" dirty="0" err="1" smtClean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Абдурозикович</a:t>
            </a:r>
            <a:endParaRPr lang="ru-RU" sz="1400" b="1" dirty="0" smtClean="0">
              <a:solidFill>
                <a:srgbClr val="F0ECE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Хайдаралиев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Ифтихор</a:t>
            </a:r>
            <a:r>
              <a:rPr lang="ru-RU" sz="1400" b="1" dirty="0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r>
              <a:rPr lang="ru-RU" sz="1400" b="1" dirty="0" err="1">
                <a:solidFill>
                  <a:srgbClr val="F0E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Аскаралиевич</a:t>
            </a:r>
            <a:endParaRPr lang="ru-RU" sz="1400" b="1" dirty="0">
              <a:solidFill>
                <a:srgbClr val="F0ECE0"/>
              </a:solidFill>
              <a:latin typeface="Calibri" pitchFamily="34" charset="0"/>
              <a:cs typeface="Calibri" pitchFamily="34" charset="-120"/>
            </a:endParaRPr>
          </a:p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7A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П-118  ·  ОРГ  ·  Тюменский государственный университет  ·  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477</Words>
  <Application>Microsoft Office PowerPoint</Application>
  <PresentationFormat>Экран (16:9)</PresentationFormat>
  <Paragraphs>136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Россия — Страна Возможностей</dc:title>
  <dc:subject>PptxGenJS Presentation</dc:subject>
  <dc:creator>Эргашов А.З., Мансуров Б.А.</dc:creator>
  <cp:lastModifiedBy>тоха</cp:lastModifiedBy>
  <cp:revision>9</cp:revision>
  <dcterms:created xsi:type="dcterms:W3CDTF">2026-06-05T20:50:37Z</dcterms:created>
  <dcterms:modified xsi:type="dcterms:W3CDTF">2026-06-09T16:43:40Z</dcterms:modified>
</cp:coreProperties>
</file>